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0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D7AACE-D11A-4472-A91C-FBE07276517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89B4CDE-3416-4500-A384-4BC900AF10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663300"/>
              </a:solidFill>
            </a:rPr>
            <a:t>Focus support on Redhill branch – local promotions and outreach</a:t>
          </a:r>
        </a:p>
      </dgm:t>
    </dgm:pt>
    <dgm:pt modelId="{B97E7D66-4B70-4416-B430-5586EFB2B416}" type="parTrans" cxnId="{B75B4D13-6A40-4183-A7B3-70F69AC28316}">
      <dgm:prSet/>
      <dgm:spPr/>
      <dgm:t>
        <a:bodyPr/>
        <a:lstStyle/>
        <a:p>
          <a:endParaRPr lang="en-US"/>
        </a:p>
      </dgm:t>
    </dgm:pt>
    <dgm:pt modelId="{DB6C0C55-B8B0-4029-88AE-AD3890958392}" type="sibTrans" cxnId="{B75B4D13-6A40-4183-A7B3-70F69AC28316}">
      <dgm:prSet phldrT="1" phldr="0"/>
      <dgm:spPr/>
      <dgm:t>
        <a:bodyPr/>
        <a:lstStyle/>
        <a:p>
          <a:endParaRPr lang="en-US"/>
        </a:p>
      </dgm:t>
    </dgm:pt>
    <dgm:pt modelId="{3FBB040D-7F53-442D-B450-848E8052A1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663300"/>
              </a:solidFill>
            </a:rPr>
            <a:t>Expand Macchiato &amp; Espresso offerings – highlight signature drinks</a:t>
          </a:r>
        </a:p>
      </dgm:t>
    </dgm:pt>
    <dgm:pt modelId="{864C17D1-5960-46FF-9C90-47AFF58ADCD2}" type="parTrans" cxnId="{B4202E90-1B1A-4DA4-993F-DB934503B1DD}">
      <dgm:prSet/>
      <dgm:spPr/>
      <dgm:t>
        <a:bodyPr/>
        <a:lstStyle/>
        <a:p>
          <a:endParaRPr lang="en-US"/>
        </a:p>
      </dgm:t>
    </dgm:pt>
    <dgm:pt modelId="{5D50C63D-0A5D-413A-B320-8F707150A923}" type="sibTrans" cxnId="{B4202E90-1B1A-4DA4-993F-DB934503B1DD}">
      <dgm:prSet phldrT="2" phldr="0"/>
      <dgm:spPr/>
      <dgm:t>
        <a:bodyPr/>
        <a:lstStyle/>
        <a:p>
          <a:endParaRPr lang="en-US"/>
        </a:p>
      </dgm:t>
    </dgm:pt>
    <dgm:pt modelId="{64500B7B-E168-401C-BC80-2EC40CDE52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663300"/>
              </a:solidFill>
            </a:rPr>
            <a:t>Introduce digital loyalty schemes to boost repeat visits</a:t>
          </a:r>
        </a:p>
      </dgm:t>
    </dgm:pt>
    <dgm:pt modelId="{1B9D77DE-B4A0-4CC4-A750-44AC1B49D399}" type="parTrans" cxnId="{2814EB61-26BC-4C3E-B4FB-B4E2A5254550}">
      <dgm:prSet/>
      <dgm:spPr/>
      <dgm:t>
        <a:bodyPr/>
        <a:lstStyle/>
        <a:p>
          <a:endParaRPr lang="en-US"/>
        </a:p>
      </dgm:t>
    </dgm:pt>
    <dgm:pt modelId="{E8304B32-1851-4ED2-9AF9-E134D747D9F3}" type="sibTrans" cxnId="{2814EB61-26BC-4C3E-B4FB-B4E2A5254550}">
      <dgm:prSet phldrT="3" phldr="0"/>
      <dgm:spPr/>
      <dgm:t>
        <a:bodyPr/>
        <a:lstStyle/>
        <a:p>
          <a:endParaRPr lang="en-US"/>
        </a:p>
      </dgm:t>
    </dgm:pt>
    <dgm:pt modelId="{67243F2F-0D52-4654-92F2-08C2EA9F59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663300"/>
              </a:solidFill>
            </a:rPr>
            <a:t>Launch off-peak offers to address seasonal dips</a:t>
          </a:r>
          <a:r>
            <a:rPr lang="en-US" dirty="0"/>
            <a:t>.</a:t>
          </a:r>
        </a:p>
      </dgm:t>
    </dgm:pt>
    <dgm:pt modelId="{89D829D8-E16C-4DAB-A874-CD29A63FE2E2}" type="parTrans" cxnId="{BBD383FC-5763-46DA-AF0F-C5B7454DF0AF}">
      <dgm:prSet/>
      <dgm:spPr/>
      <dgm:t>
        <a:bodyPr/>
        <a:lstStyle/>
        <a:p>
          <a:endParaRPr lang="en-US"/>
        </a:p>
      </dgm:t>
    </dgm:pt>
    <dgm:pt modelId="{C75D9F63-C9DE-4C29-8404-088BBC4B8C31}" type="sibTrans" cxnId="{BBD383FC-5763-46DA-AF0F-C5B7454DF0AF}">
      <dgm:prSet phldrT="4" phldr="0"/>
      <dgm:spPr/>
      <dgm:t>
        <a:bodyPr/>
        <a:lstStyle/>
        <a:p>
          <a:endParaRPr lang="en-US"/>
        </a:p>
      </dgm:t>
    </dgm:pt>
    <dgm:pt modelId="{D1DA4E6E-3AAA-4271-808D-1CD76F5DB3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663300"/>
              </a:solidFill>
            </a:rPr>
            <a:t>Prepare for cloud scalability (Azure SQL / automated ETL pipeline)</a:t>
          </a:r>
        </a:p>
      </dgm:t>
    </dgm:pt>
    <dgm:pt modelId="{B3657A21-85EA-48E9-9EE0-0D9714068728}" type="parTrans" cxnId="{6A59C4E3-E9F5-429A-BB89-10A80CF3063F}">
      <dgm:prSet/>
      <dgm:spPr/>
      <dgm:t>
        <a:bodyPr/>
        <a:lstStyle/>
        <a:p>
          <a:endParaRPr lang="en-US"/>
        </a:p>
      </dgm:t>
    </dgm:pt>
    <dgm:pt modelId="{D818330E-D4B9-41B5-B16B-03EF9B5AD62F}" type="sibTrans" cxnId="{6A59C4E3-E9F5-429A-BB89-10A80CF3063F}">
      <dgm:prSet phldrT="5" phldr="0"/>
      <dgm:spPr/>
      <dgm:t>
        <a:bodyPr/>
        <a:lstStyle/>
        <a:p>
          <a:endParaRPr lang="en-US"/>
        </a:p>
      </dgm:t>
    </dgm:pt>
    <dgm:pt modelId="{C787817D-5FE6-4C2C-839F-82864C01C9A2}" type="pres">
      <dgm:prSet presAssocID="{5CD7AACE-D11A-4472-A91C-FBE072765177}" presName="root" presStyleCnt="0">
        <dgm:presLayoutVars>
          <dgm:dir/>
          <dgm:resizeHandles val="exact"/>
        </dgm:presLayoutVars>
      </dgm:prSet>
      <dgm:spPr/>
    </dgm:pt>
    <dgm:pt modelId="{2DF064C3-85F9-49EA-94FA-FAF79D54BC3B}" type="pres">
      <dgm:prSet presAssocID="{989B4CDE-3416-4500-A384-4BC900AF1084}" presName="compNode" presStyleCnt="0"/>
      <dgm:spPr/>
    </dgm:pt>
    <dgm:pt modelId="{F2CDF1BA-A223-4B05-A1BB-2CB990C9D644}" type="pres">
      <dgm:prSet presAssocID="{989B4CDE-3416-4500-A384-4BC900AF108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5C21AC6E-0E22-48F2-8566-121998725427}" type="pres">
      <dgm:prSet presAssocID="{989B4CDE-3416-4500-A384-4BC900AF1084}" presName="spaceRect" presStyleCnt="0"/>
      <dgm:spPr/>
    </dgm:pt>
    <dgm:pt modelId="{E1551957-4B01-41E4-895D-C22E02565BD9}" type="pres">
      <dgm:prSet presAssocID="{989B4CDE-3416-4500-A384-4BC900AF1084}" presName="textRect" presStyleLbl="revTx" presStyleIdx="0" presStyleCnt="5">
        <dgm:presLayoutVars>
          <dgm:chMax val="1"/>
          <dgm:chPref val="1"/>
        </dgm:presLayoutVars>
      </dgm:prSet>
      <dgm:spPr/>
    </dgm:pt>
    <dgm:pt modelId="{A1D15F54-F9B6-443E-9DD7-5F6C1402F4E0}" type="pres">
      <dgm:prSet presAssocID="{DB6C0C55-B8B0-4029-88AE-AD3890958392}" presName="sibTrans" presStyleCnt="0"/>
      <dgm:spPr/>
    </dgm:pt>
    <dgm:pt modelId="{78695918-B65F-4269-8630-716D699F22DB}" type="pres">
      <dgm:prSet presAssocID="{3FBB040D-7F53-442D-B450-848E8052A1B6}" presName="compNode" presStyleCnt="0"/>
      <dgm:spPr/>
    </dgm:pt>
    <dgm:pt modelId="{D3DE0CB3-9B50-4A9C-834D-976CE8B22138}" type="pres">
      <dgm:prSet presAssocID="{3FBB040D-7F53-442D-B450-848E8052A1B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3AE72D42-EEAF-4D6A-B4B0-BB9DFAB2F439}" type="pres">
      <dgm:prSet presAssocID="{3FBB040D-7F53-442D-B450-848E8052A1B6}" presName="spaceRect" presStyleCnt="0"/>
      <dgm:spPr/>
    </dgm:pt>
    <dgm:pt modelId="{03D349E2-0D95-402F-9D2A-1A68288734D6}" type="pres">
      <dgm:prSet presAssocID="{3FBB040D-7F53-442D-B450-848E8052A1B6}" presName="textRect" presStyleLbl="revTx" presStyleIdx="1" presStyleCnt="5">
        <dgm:presLayoutVars>
          <dgm:chMax val="1"/>
          <dgm:chPref val="1"/>
        </dgm:presLayoutVars>
      </dgm:prSet>
      <dgm:spPr/>
    </dgm:pt>
    <dgm:pt modelId="{0E03F9D6-5846-4D6A-A25E-A97ED469351B}" type="pres">
      <dgm:prSet presAssocID="{5D50C63D-0A5D-413A-B320-8F707150A923}" presName="sibTrans" presStyleCnt="0"/>
      <dgm:spPr/>
    </dgm:pt>
    <dgm:pt modelId="{1322D74C-DA4F-420D-A84A-710786D6A989}" type="pres">
      <dgm:prSet presAssocID="{64500B7B-E168-401C-BC80-2EC40CDE5231}" presName="compNode" presStyleCnt="0"/>
      <dgm:spPr/>
    </dgm:pt>
    <dgm:pt modelId="{F663F463-7494-4AAB-9F12-A73CF704FB2F}" type="pres">
      <dgm:prSet presAssocID="{64500B7B-E168-401C-BC80-2EC40CDE523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 with solid fill"/>
        </a:ext>
      </dgm:extLst>
    </dgm:pt>
    <dgm:pt modelId="{22FD88AE-3B2B-42D7-A510-F6D3262F7BB1}" type="pres">
      <dgm:prSet presAssocID="{64500B7B-E168-401C-BC80-2EC40CDE5231}" presName="spaceRect" presStyleCnt="0"/>
      <dgm:spPr/>
    </dgm:pt>
    <dgm:pt modelId="{524D405A-F3CF-4DF3-BEC1-73E79C748875}" type="pres">
      <dgm:prSet presAssocID="{64500B7B-E168-401C-BC80-2EC40CDE5231}" presName="textRect" presStyleLbl="revTx" presStyleIdx="2" presStyleCnt="5">
        <dgm:presLayoutVars>
          <dgm:chMax val="1"/>
          <dgm:chPref val="1"/>
        </dgm:presLayoutVars>
      </dgm:prSet>
      <dgm:spPr/>
    </dgm:pt>
    <dgm:pt modelId="{C3CD16CE-46E6-4DE7-AFF5-AD6583E6F0E4}" type="pres">
      <dgm:prSet presAssocID="{E8304B32-1851-4ED2-9AF9-E134D747D9F3}" presName="sibTrans" presStyleCnt="0"/>
      <dgm:spPr/>
    </dgm:pt>
    <dgm:pt modelId="{42B7FBC2-3798-4B1F-8C9B-CFABBFA9D1B0}" type="pres">
      <dgm:prSet presAssocID="{67243F2F-0D52-4654-92F2-08C2EA9F59F3}" presName="compNode" presStyleCnt="0"/>
      <dgm:spPr/>
    </dgm:pt>
    <dgm:pt modelId="{E33FE697-F077-4739-89A8-83EB47D501DB}" type="pres">
      <dgm:prSet presAssocID="{67243F2F-0D52-4654-92F2-08C2EA9F59F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 with solid fill"/>
        </a:ext>
      </dgm:extLst>
    </dgm:pt>
    <dgm:pt modelId="{0EA599B3-F617-4677-B3DB-546A4ED1FC7D}" type="pres">
      <dgm:prSet presAssocID="{67243F2F-0D52-4654-92F2-08C2EA9F59F3}" presName="spaceRect" presStyleCnt="0"/>
      <dgm:spPr/>
    </dgm:pt>
    <dgm:pt modelId="{C154404A-9033-41D5-BF77-E9B67973FA6A}" type="pres">
      <dgm:prSet presAssocID="{67243F2F-0D52-4654-92F2-08C2EA9F59F3}" presName="textRect" presStyleLbl="revTx" presStyleIdx="3" presStyleCnt="5">
        <dgm:presLayoutVars>
          <dgm:chMax val="1"/>
          <dgm:chPref val="1"/>
        </dgm:presLayoutVars>
      </dgm:prSet>
      <dgm:spPr/>
    </dgm:pt>
    <dgm:pt modelId="{F89869E8-572D-4A25-B819-77B2F72189DB}" type="pres">
      <dgm:prSet presAssocID="{C75D9F63-C9DE-4C29-8404-088BBC4B8C31}" presName="sibTrans" presStyleCnt="0"/>
      <dgm:spPr/>
    </dgm:pt>
    <dgm:pt modelId="{DB579B11-E26D-4666-9787-BB7BF0467E24}" type="pres">
      <dgm:prSet presAssocID="{D1DA4E6E-3AAA-4271-808D-1CD76F5DB3DF}" presName="compNode" presStyleCnt="0"/>
      <dgm:spPr/>
    </dgm:pt>
    <dgm:pt modelId="{1CD39677-F05A-4FDD-9D14-51972FC75E7D}" type="pres">
      <dgm:prSet presAssocID="{D1DA4E6E-3AAA-4271-808D-1CD76F5DB3D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2CA2583-D4C3-484B-9E92-5656003CCACC}" type="pres">
      <dgm:prSet presAssocID="{D1DA4E6E-3AAA-4271-808D-1CD76F5DB3DF}" presName="spaceRect" presStyleCnt="0"/>
      <dgm:spPr/>
    </dgm:pt>
    <dgm:pt modelId="{F9C4A8C5-5224-49E4-A4C1-52F1267C42E1}" type="pres">
      <dgm:prSet presAssocID="{D1DA4E6E-3AAA-4271-808D-1CD76F5DB3D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ABBF507-27C5-4BC9-B4BC-F0ED4A1F626E}" type="presOf" srcId="{64500B7B-E168-401C-BC80-2EC40CDE5231}" destId="{524D405A-F3CF-4DF3-BEC1-73E79C748875}" srcOrd="0" destOrd="0" presId="urn:microsoft.com/office/officeart/2018/2/layout/IconLabelList"/>
    <dgm:cxn modelId="{B75B4D13-6A40-4183-A7B3-70F69AC28316}" srcId="{5CD7AACE-D11A-4472-A91C-FBE072765177}" destId="{989B4CDE-3416-4500-A384-4BC900AF1084}" srcOrd="0" destOrd="0" parTransId="{B97E7D66-4B70-4416-B430-5586EFB2B416}" sibTransId="{DB6C0C55-B8B0-4029-88AE-AD3890958392}"/>
    <dgm:cxn modelId="{C8B88613-19AB-49B1-8904-49968174180C}" type="presOf" srcId="{5CD7AACE-D11A-4472-A91C-FBE072765177}" destId="{C787817D-5FE6-4C2C-839F-82864C01C9A2}" srcOrd="0" destOrd="0" presId="urn:microsoft.com/office/officeart/2018/2/layout/IconLabelList"/>
    <dgm:cxn modelId="{2814EB61-26BC-4C3E-B4FB-B4E2A5254550}" srcId="{5CD7AACE-D11A-4472-A91C-FBE072765177}" destId="{64500B7B-E168-401C-BC80-2EC40CDE5231}" srcOrd="2" destOrd="0" parTransId="{1B9D77DE-B4A0-4CC4-A750-44AC1B49D399}" sibTransId="{E8304B32-1851-4ED2-9AF9-E134D747D9F3}"/>
    <dgm:cxn modelId="{FD82DD42-FD07-47C3-A92E-7E088A1ACE1E}" type="presOf" srcId="{3FBB040D-7F53-442D-B450-848E8052A1B6}" destId="{03D349E2-0D95-402F-9D2A-1A68288734D6}" srcOrd="0" destOrd="0" presId="urn:microsoft.com/office/officeart/2018/2/layout/IconLabelList"/>
    <dgm:cxn modelId="{FF173A8C-8C45-4929-8173-FB023D64EABF}" type="presOf" srcId="{D1DA4E6E-3AAA-4271-808D-1CD76F5DB3DF}" destId="{F9C4A8C5-5224-49E4-A4C1-52F1267C42E1}" srcOrd="0" destOrd="0" presId="urn:microsoft.com/office/officeart/2018/2/layout/IconLabelList"/>
    <dgm:cxn modelId="{B4202E90-1B1A-4DA4-993F-DB934503B1DD}" srcId="{5CD7AACE-D11A-4472-A91C-FBE072765177}" destId="{3FBB040D-7F53-442D-B450-848E8052A1B6}" srcOrd="1" destOrd="0" parTransId="{864C17D1-5960-46FF-9C90-47AFF58ADCD2}" sibTransId="{5D50C63D-0A5D-413A-B320-8F707150A923}"/>
    <dgm:cxn modelId="{56E187B8-4CAD-4EB0-B1B2-BB6FAFCB7432}" type="presOf" srcId="{989B4CDE-3416-4500-A384-4BC900AF1084}" destId="{E1551957-4B01-41E4-895D-C22E02565BD9}" srcOrd="0" destOrd="0" presId="urn:microsoft.com/office/officeart/2018/2/layout/IconLabelList"/>
    <dgm:cxn modelId="{D19A5BC5-A089-458F-A1B7-85277CDBB8DC}" type="presOf" srcId="{67243F2F-0D52-4654-92F2-08C2EA9F59F3}" destId="{C154404A-9033-41D5-BF77-E9B67973FA6A}" srcOrd="0" destOrd="0" presId="urn:microsoft.com/office/officeart/2018/2/layout/IconLabelList"/>
    <dgm:cxn modelId="{6A59C4E3-E9F5-429A-BB89-10A80CF3063F}" srcId="{5CD7AACE-D11A-4472-A91C-FBE072765177}" destId="{D1DA4E6E-3AAA-4271-808D-1CD76F5DB3DF}" srcOrd="4" destOrd="0" parTransId="{B3657A21-85EA-48E9-9EE0-0D9714068728}" sibTransId="{D818330E-D4B9-41B5-B16B-03EF9B5AD62F}"/>
    <dgm:cxn modelId="{BBD383FC-5763-46DA-AF0F-C5B7454DF0AF}" srcId="{5CD7AACE-D11A-4472-A91C-FBE072765177}" destId="{67243F2F-0D52-4654-92F2-08C2EA9F59F3}" srcOrd="3" destOrd="0" parTransId="{89D829D8-E16C-4DAB-A874-CD29A63FE2E2}" sibTransId="{C75D9F63-C9DE-4C29-8404-088BBC4B8C31}"/>
    <dgm:cxn modelId="{EFF88DEF-E320-4887-B9B6-0162122941B7}" type="presParOf" srcId="{C787817D-5FE6-4C2C-839F-82864C01C9A2}" destId="{2DF064C3-85F9-49EA-94FA-FAF79D54BC3B}" srcOrd="0" destOrd="0" presId="urn:microsoft.com/office/officeart/2018/2/layout/IconLabelList"/>
    <dgm:cxn modelId="{7B529AD3-021B-41E4-B7C1-46E33D0A1DC2}" type="presParOf" srcId="{2DF064C3-85F9-49EA-94FA-FAF79D54BC3B}" destId="{F2CDF1BA-A223-4B05-A1BB-2CB990C9D644}" srcOrd="0" destOrd="0" presId="urn:microsoft.com/office/officeart/2018/2/layout/IconLabelList"/>
    <dgm:cxn modelId="{21FBA902-2E9A-42D7-ABA0-9AB532734470}" type="presParOf" srcId="{2DF064C3-85F9-49EA-94FA-FAF79D54BC3B}" destId="{5C21AC6E-0E22-48F2-8566-121998725427}" srcOrd="1" destOrd="0" presId="urn:microsoft.com/office/officeart/2018/2/layout/IconLabelList"/>
    <dgm:cxn modelId="{0A1D85C8-432B-44A0-B551-8D9F356433A2}" type="presParOf" srcId="{2DF064C3-85F9-49EA-94FA-FAF79D54BC3B}" destId="{E1551957-4B01-41E4-895D-C22E02565BD9}" srcOrd="2" destOrd="0" presId="urn:microsoft.com/office/officeart/2018/2/layout/IconLabelList"/>
    <dgm:cxn modelId="{BFE9D4F1-B986-4120-94C0-F687694C38B8}" type="presParOf" srcId="{C787817D-5FE6-4C2C-839F-82864C01C9A2}" destId="{A1D15F54-F9B6-443E-9DD7-5F6C1402F4E0}" srcOrd="1" destOrd="0" presId="urn:microsoft.com/office/officeart/2018/2/layout/IconLabelList"/>
    <dgm:cxn modelId="{465D86E7-C305-463D-9092-382FD282DF88}" type="presParOf" srcId="{C787817D-5FE6-4C2C-839F-82864C01C9A2}" destId="{78695918-B65F-4269-8630-716D699F22DB}" srcOrd="2" destOrd="0" presId="urn:microsoft.com/office/officeart/2018/2/layout/IconLabelList"/>
    <dgm:cxn modelId="{67E513D0-2EF0-4D4F-B26B-AF6193A3D5DD}" type="presParOf" srcId="{78695918-B65F-4269-8630-716D699F22DB}" destId="{D3DE0CB3-9B50-4A9C-834D-976CE8B22138}" srcOrd="0" destOrd="0" presId="urn:microsoft.com/office/officeart/2018/2/layout/IconLabelList"/>
    <dgm:cxn modelId="{6F800E2A-8661-46B7-AE91-EF5CD5A623EF}" type="presParOf" srcId="{78695918-B65F-4269-8630-716D699F22DB}" destId="{3AE72D42-EEAF-4D6A-B4B0-BB9DFAB2F439}" srcOrd="1" destOrd="0" presId="urn:microsoft.com/office/officeart/2018/2/layout/IconLabelList"/>
    <dgm:cxn modelId="{EC141847-6125-4212-9E5E-C4B5F03E1E3E}" type="presParOf" srcId="{78695918-B65F-4269-8630-716D699F22DB}" destId="{03D349E2-0D95-402F-9D2A-1A68288734D6}" srcOrd="2" destOrd="0" presId="urn:microsoft.com/office/officeart/2018/2/layout/IconLabelList"/>
    <dgm:cxn modelId="{D6951DFC-255B-42C0-9540-764C1D83D812}" type="presParOf" srcId="{C787817D-5FE6-4C2C-839F-82864C01C9A2}" destId="{0E03F9D6-5846-4D6A-A25E-A97ED469351B}" srcOrd="3" destOrd="0" presId="urn:microsoft.com/office/officeart/2018/2/layout/IconLabelList"/>
    <dgm:cxn modelId="{7CBB623E-92DB-4E83-AF29-9EA6FD8FD38A}" type="presParOf" srcId="{C787817D-5FE6-4C2C-839F-82864C01C9A2}" destId="{1322D74C-DA4F-420D-A84A-710786D6A989}" srcOrd="4" destOrd="0" presId="urn:microsoft.com/office/officeart/2018/2/layout/IconLabelList"/>
    <dgm:cxn modelId="{8419A6D1-1EE2-4C9C-B605-46E9512FB1E1}" type="presParOf" srcId="{1322D74C-DA4F-420D-A84A-710786D6A989}" destId="{F663F463-7494-4AAB-9F12-A73CF704FB2F}" srcOrd="0" destOrd="0" presId="urn:microsoft.com/office/officeart/2018/2/layout/IconLabelList"/>
    <dgm:cxn modelId="{7D41BA93-D856-4221-9EDE-E0D6E1E60429}" type="presParOf" srcId="{1322D74C-DA4F-420D-A84A-710786D6A989}" destId="{22FD88AE-3B2B-42D7-A510-F6D3262F7BB1}" srcOrd="1" destOrd="0" presId="urn:microsoft.com/office/officeart/2018/2/layout/IconLabelList"/>
    <dgm:cxn modelId="{65B7AA68-C803-40F9-8ACF-16C91F67B61F}" type="presParOf" srcId="{1322D74C-DA4F-420D-A84A-710786D6A989}" destId="{524D405A-F3CF-4DF3-BEC1-73E79C748875}" srcOrd="2" destOrd="0" presId="urn:microsoft.com/office/officeart/2018/2/layout/IconLabelList"/>
    <dgm:cxn modelId="{68DCBC51-C0E2-46D2-87E1-A58C57184AC9}" type="presParOf" srcId="{C787817D-5FE6-4C2C-839F-82864C01C9A2}" destId="{C3CD16CE-46E6-4DE7-AFF5-AD6583E6F0E4}" srcOrd="5" destOrd="0" presId="urn:microsoft.com/office/officeart/2018/2/layout/IconLabelList"/>
    <dgm:cxn modelId="{198CD24F-48F8-4EDC-94AF-64C1802AA6F1}" type="presParOf" srcId="{C787817D-5FE6-4C2C-839F-82864C01C9A2}" destId="{42B7FBC2-3798-4B1F-8C9B-CFABBFA9D1B0}" srcOrd="6" destOrd="0" presId="urn:microsoft.com/office/officeart/2018/2/layout/IconLabelList"/>
    <dgm:cxn modelId="{06147CAA-29AF-417E-B2FF-01CF2DAAF01C}" type="presParOf" srcId="{42B7FBC2-3798-4B1F-8C9B-CFABBFA9D1B0}" destId="{E33FE697-F077-4739-89A8-83EB47D501DB}" srcOrd="0" destOrd="0" presId="urn:microsoft.com/office/officeart/2018/2/layout/IconLabelList"/>
    <dgm:cxn modelId="{D6A12ADA-2E97-4CC7-8B7A-8492268F9012}" type="presParOf" srcId="{42B7FBC2-3798-4B1F-8C9B-CFABBFA9D1B0}" destId="{0EA599B3-F617-4677-B3DB-546A4ED1FC7D}" srcOrd="1" destOrd="0" presId="urn:microsoft.com/office/officeart/2018/2/layout/IconLabelList"/>
    <dgm:cxn modelId="{F27EE5F7-270E-4214-838F-DD47130C1F3B}" type="presParOf" srcId="{42B7FBC2-3798-4B1F-8C9B-CFABBFA9D1B0}" destId="{C154404A-9033-41D5-BF77-E9B67973FA6A}" srcOrd="2" destOrd="0" presId="urn:microsoft.com/office/officeart/2018/2/layout/IconLabelList"/>
    <dgm:cxn modelId="{D2789E98-0F4C-45DD-A77B-374134003997}" type="presParOf" srcId="{C787817D-5FE6-4C2C-839F-82864C01C9A2}" destId="{F89869E8-572D-4A25-B819-77B2F72189DB}" srcOrd="7" destOrd="0" presId="urn:microsoft.com/office/officeart/2018/2/layout/IconLabelList"/>
    <dgm:cxn modelId="{7F0D52F2-1431-46CD-ABE6-047FC8E0C962}" type="presParOf" srcId="{C787817D-5FE6-4C2C-839F-82864C01C9A2}" destId="{DB579B11-E26D-4666-9787-BB7BF0467E24}" srcOrd="8" destOrd="0" presId="urn:microsoft.com/office/officeart/2018/2/layout/IconLabelList"/>
    <dgm:cxn modelId="{C8020C03-49E5-484E-AA70-BD7B7F754DE1}" type="presParOf" srcId="{DB579B11-E26D-4666-9787-BB7BF0467E24}" destId="{1CD39677-F05A-4FDD-9D14-51972FC75E7D}" srcOrd="0" destOrd="0" presId="urn:microsoft.com/office/officeart/2018/2/layout/IconLabelList"/>
    <dgm:cxn modelId="{15485B87-FBB1-4074-9830-F8EF00B169D9}" type="presParOf" srcId="{DB579B11-E26D-4666-9787-BB7BF0467E24}" destId="{C2CA2583-D4C3-484B-9E92-5656003CCACC}" srcOrd="1" destOrd="0" presId="urn:microsoft.com/office/officeart/2018/2/layout/IconLabelList"/>
    <dgm:cxn modelId="{B11889D3-5B73-4B87-86C3-9950121E34E5}" type="presParOf" srcId="{DB579B11-E26D-4666-9787-BB7BF0467E24}" destId="{F9C4A8C5-5224-49E4-A4C1-52F1267C42E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CDF1BA-A223-4B05-A1BB-2CB990C9D644}">
      <dsp:nvSpPr>
        <dsp:cNvPr id="0" name=""/>
        <dsp:cNvSpPr/>
      </dsp:nvSpPr>
      <dsp:spPr>
        <a:xfrm>
          <a:off x="316092" y="624527"/>
          <a:ext cx="515742" cy="5157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51957-4B01-41E4-895D-C22E02565BD9}">
      <dsp:nvSpPr>
        <dsp:cNvPr id="0" name=""/>
        <dsp:cNvSpPr/>
      </dsp:nvSpPr>
      <dsp:spPr>
        <a:xfrm>
          <a:off x="916" y="1327684"/>
          <a:ext cx="1146093" cy="45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663300"/>
              </a:solidFill>
            </a:rPr>
            <a:t>Focus support on Redhill branch – local promotions and outreach</a:t>
          </a:r>
        </a:p>
      </dsp:txBody>
      <dsp:txXfrm>
        <a:off x="916" y="1327684"/>
        <a:ext cx="1146093" cy="458437"/>
      </dsp:txXfrm>
    </dsp:sp>
    <dsp:sp modelId="{D3DE0CB3-9B50-4A9C-834D-976CE8B22138}">
      <dsp:nvSpPr>
        <dsp:cNvPr id="0" name=""/>
        <dsp:cNvSpPr/>
      </dsp:nvSpPr>
      <dsp:spPr>
        <a:xfrm>
          <a:off x="1662752" y="624527"/>
          <a:ext cx="515742" cy="5157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349E2-0D95-402F-9D2A-1A68288734D6}">
      <dsp:nvSpPr>
        <dsp:cNvPr id="0" name=""/>
        <dsp:cNvSpPr/>
      </dsp:nvSpPr>
      <dsp:spPr>
        <a:xfrm>
          <a:off x="1347576" y="1327684"/>
          <a:ext cx="1146093" cy="45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663300"/>
              </a:solidFill>
            </a:rPr>
            <a:t>Expand Macchiato &amp; Espresso offerings – highlight signature drinks</a:t>
          </a:r>
        </a:p>
      </dsp:txBody>
      <dsp:txXfrm>
        <a:off x="1347576" y="1327684"/>
        <a:ext cx="1146093" cy="458437"/>
      </dsp:txXfrm>
    </dsp:sp>
    <dsp:sp modelId="{F663F463-7494-4AAB-9F12-A73CF704FB2F}">
      <dsp:nvSpPr>
        <dsp:cNvPr id="0" name=""/>
        <dsp:cNvSpPr/>
      </dsp:nvSpPr>
      <dsp:spPr>
        <a:xfrm>
          <a:off x="3009412" y="624527"/>
          <a:ext cx="515742" cy="5157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4D405A-F3CF-4DF3-BEC1-73E79C748875}">
      <dsp:nvSpPr>
        <dsp:cNvPr id="0" name=""/>
        <dsp:cNvSpPr/>
      </dsp:nvSpPr>
      <dsp:spPr>
        <a:xfrm>
          <a:off x="2694236" y="1327684"/>
          <a:ext cx="1146093" cy="45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663300"/>
              </a:solidFill>
            </a:rPr>
            <a:t>Introduce digital loyalty schemes to boost repeat visits</a:t>
          </a:r>
        </a:p>
      </dsp:txBody>
      <dsp:txXfrm>
        <a:off x="2694236" y="1327684"/>
        <a:ext cx="1146093" cy="458437"/>
      </dsp:txXfrm>
    </dsp:sp>
    <dsp:sp modelId="{E33FE697-F077-4739-89A8-83EB47D501DB}">
      <dsp:nvSpPr>
        <dsp:cNvPr id="0" name=""/>
        <dsp:cNvSpPr/>
      </dsp:nvSpPr>
      <dsp:spPr>
        <a:xfrm>
          <a:off x="989422" y="2072645"/>
          <a:ext cx="515742" cy="51574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54404A-9033-41D5-BF77-E9B67973FA6A}">
      <dsp:nvSpPr>
        <dsp:cNvPr id="0" name=""/>
        <dsp:cNvSpPr/>
      </dsp:nvSpPr>
      <dsp:spPr>
        <a:xfrm>
          <a:off x="674246" y="2775803"/>
          <a:ext cx="1146093" cy="45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663300"/>
              </a:solidFill>
            </a:rPr>
            <a:t>Launch off-peak offers to address seasonal dips</a:t>
          </a:r>
          <a:r>
            <a:rPr lang="en-US" sz="1100" kern="1200" dirty="0"/>
            <a:t>.</a:t>
          </a:r>
        </a:p>
      </dsp:txBody>
      <dsp:txXfrm>
        <a:off x="674246" y="2775803"/>
        <a:ext cx="1146093" cy="458437"/>
      </dsp:txXfrm>
    </dsp:sp>
    <dsp:sp modelId="{1CD39677-F05A-4FDD-9D14-51972FC75E7D}">
      <dsp:nvSpPr>
        <dsp:cNvPr id="0" name=""/>
        <dsp:cNvSpPr/>
      </dsp:nvSpPr>
      <dsp:spPr>
        <a:xfrm>
          <a:off x="2336082" y="2072645"/>
          <a:ext cx="515742" cy="51574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C4A8C5-5224-49E4-A4C1-52F1267C42E1}">
      <dsp:nvSpPr>
        <dsp:cNvPr id="0" name=""/>
        <dsp:cNvSpPr/>
      </dsp:nvSpPr>
      <dsp:spPr>
        <a:xfrm>
          <a:off x="2020906" y="2775803"/>
          <a:ext cx="1146093" cy="45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663300"/>
              </a:solidFill>
            </a:rPr>
            <a:t>Prepare for cloud scalability (Azure SQL / automated ETL pipeline)</a:t>
          </a:r>
        </a:p>
      </dsp:txBody>
      <dsp:txXfrm>
        <a:off x="2020906" y="2775803"/>
        <a:ext cx="1146093" cy="4584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138036"/>
            <a:ext cx="3064248" cy="14024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dirty="0"/>
              <a:t>Café Analytics Pilot — Project Presentation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71500" y="2551176"/>
            <a:ext cx="3064248" cy="3591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rgbClr val="5A321E"/>
                </a:solidFill>
                <a:latin typeface="Calibri (Body)"/>
              </a:defRPr>
            </a:pPr>
            <a:r>
              <a:rPr lang="en-US" sz="1700" dirty="0"/>
              <a:t>A data-driven analysis of café branch performance,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rgbClr val="5A321E"/>
                </a:solidFill>
                <a:latin typeface="Calibri (Body)"/>
              </a:defRPr>
            </a:pPr>
            <a:r>
              <a:rPr lang="en-US" sz="1700" dirty="0"/>
              <a:t> Exploratory analysis of sales trends, and customer behavior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A9E02-8377-8CC1-1F13-9F3C6F0986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10" r="21822" b="-1"/>
          <a:stretch>
            <a:fillRect/>
          </a:stretch>
        </p:blipFill>
        <p:spPr>
          <a:xfrm>
            <a:off x="4238244" y="10"/>
            <a:ext cx="4905756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GB" sz="3100" dirty="0"/>
              <a:t>📊 Dashboard Highlights</a:t>
            </a:r>
          </a:p>
        </p:txBody>
      </p:sp>
      <p:pic>
        <p:nvPicPr>
          <p:cNvPr id="5" name="Picture 4" descr="Coffee on white background">
            <a:extLst>
              <a:ext uri="{FF2B5EF4-FFF2-40B4-BE49-F238E27FC236}">
                <a16:creationId xmlns:a16="http://schemas.microsoft.com/office/drawing/2014/main" id="{8C73A1A2-668D-7DB8-29D9-B72923262D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35" b="21472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sz="1600" dirty="0">
                <a:solidFill>
                  <a:srgbClr val="663300"/>
                </a:solidFill>
              </a:rPr>
              <a:t> Total Sales: £210.50 | Profit Estimate: £63.15 | Transactions: 60</a:t>
            </a:r>
          </a:p>
          <a:p>
            <a:r>
              <a:rPr lang="en-US" sz="1600" dirty="0">
                <a:solidFill>
                  <a:srgbClr val="663300"/>
                </a:solidFill>
              </a:rPr>
              <a:t>Average Spend per Customer: £3.51</a:t>
            </a:r>
          </a:p>
          <a:p>
            <a:r>
              <a:rPr lang="en-US" sz="1600" dirty="0">
                <a:solidFill>
                  <a:srgbClr val="663300"/>
                </a:solidFill>
              </a:rPr>
              <a:t>Top Drinks: Macchiato &amp; Espresso dominate</a:t>
            </a:r>
          </a:p>
          <a:p>
            <a:r>
              <a:rPr lang="en-US" sz="1600" dirty="0">
                <a:solidFill>
                  <a:srgbClr val="663300"/>
                </a:solidFill>
              </a:rPr>
              <a:t>Payment Split: 51.5% Card, 48.5% Cash</a:t>
            </a:r>
          </a:p>
          <a:p>
            <a:r>
              <a:rPr lang="en-US" sz="1600" dirty="0">
                <a:solidFill>
                  <a:srgbClr val="663300"/>
                </a:solidFill>
              </a:rPr>
              <a:t>Sales recovering toward early 2025, mild upward trend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GB" sz="3500"/>
              <a:t>🏪 Branch Performance</a:t>
            </a:r>
          </a:p>
        </p:txBody>
      </p:sp>
      <p:sp>
        <p:nvSpPr>
          <p:cNvPr id="35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GB" sz="1700" dirty="0">
                <a:solidFill>
                  <a:srgbClr val="663300"/>
                </a:solidFill>
              </a:rPr>
              <a:t>Woking: £94.50 – Highest performing branch</a:t>
            </a:r>
          </a:p>
          <a:p>
            <a:r>
              <a:rPr lang="en-GB" sz="1700" dirty="0">
                <a:solidFill>
                  <a:srgbClr val="663300"/>
                </a:solidFill>
              </a:rPr>
              <a:t>Guildford: £55.00 – Solid mid-tier performer</a:t>
            </a:r>
          </a:p>
          <a:p>
            <a:r>
              <a:rPr lang="en-GB" sz="1700" dirty="0">
                <a:solidFill>
                  <a:srgbClr val="663300"/>
                </a:solidFill>
              </a:rPr>
              <a:t>Epsom: £43.50 – Consistent local performance</a:t>
            </a:r>
          </a:p>
          <a:p>
            <a:r>
              <a:rPr lang="en-GB" sz="1700" dirty="0">
                <a:solidFill>
                  <a:srgbClr val="663300"/>
                </a:solidFill>
              </a:rPr>
              <a:t>Redhill: £17.50 – Underperforming – requires attention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3C1807-CCF7-E4DC-E529-D6843331D2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26" r="24038" b="-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041" y="1138265"/>
            <a:ext cx="3632822" cy="1401183"/>
          </a:xfrm>
        </p:spPr>
        <p:txBody>
          <a:bodyPr anchor="t">
            <a:normAutofit/>
          </a:bodyPr>
          <a:lstStyle/>
          <a:p>
            <a:r>
              <a:rPr lang="en-GB" sz="2800"/>
              <a:t>Recommendations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6096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5F1F6DA-CFE4-7471-9399-46887F84DF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06" r="20218" b="-1"/>
          <a:stretch>
            <a:fillRect/>
          </a:stretch>
        </p:blipFill>
        <p:spPr>
          <a:xfrm>
            <a:off x="4893705" y="1023779"/>
            <a:ext cx="3607832" cy="4810442"/>
          </a:xfrm>
          <a:custGeom>
            <a:avLst/>
            <a:gdLst/>
            <a:ahLst/>
            <a:cxnLst/>
            <a:rect l="l" t="t" r="r" b="b"/>
            <a:pathLst>
              <a:path w="4810442" h="4810442">
                <a:moveTo>
                  <a:pt x="2405221" y="0"/>
                </a:moveTo>
                <a:cubicBezTo>
                  <a:pt x="3733588" y="0"/>
                  <a:pt x="4810442" y="1076854"/>
                  <a:pt x="4810442" y="2405221"/>
                </a:cubicBezTo>
                <a:cubicBezTo>
                  <a:pt x="4810442" y="3733588"/>
                  <a:pt x="3733588" y="4810442"/>
                  <a:pt x="2405221" y="4810442"/>
                </a:cubicBezTo>
                <a:cubicBezTo>
                  <a:pt x="1076854" y="4810442"/>
                  <a:pt x="0" y="3733588"/>
                  <a:pt x="0" y="2405221"/>
                </a:cubicBezTo>
                <a:cubicBezTo>
                  <a:pt x="0" y="1076854"/>
                  <a:pt x="1076854" y="0"/>
                  <a:pt x="2405221" y="0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3E1319-DB30-2A56-1861-0517A02A9C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1234220"/>
              </p:ext>
            </p:extLst>
          </p:nvPr>
        </p:nvGraphicFramePr>
        <p:xfrm>
          <a:off x="356616" y="2551176"/>
          <a:ext cx="3841247" cy="3858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GB" sz="3100" dirty="0"/>
              <a:t>Technical 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64D8A1-8E1E-24C1-0AF3-6BCE6CDEBA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266" b="15864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9816" y="3752850"/>
            <a:ext cx="5682230" cy="2739390"/>
          </a:xfrm>
        </p:spPr>
        <p:txBody>
          <a:bodyPr anchor="ctr">
            <a:normAutofit/>
          </a:bodyPr>
          <a:lstStyle/>
          <a:p>
            <a:r>
              <a:rPr lang="en-GB" sz="1600" dirty="0">
                <a:solidFill>
                  <a:srgbClr val="663300"/>
                </a:solidFill>
              </a:rPr>
              <a:t>All personal data anonymised during ingestion (names, card numbers removed)</a:t>
            </a:r>
          </a:p>
          <a:p>
            <a:r>
              <a:rPr lang="en-GB" sz="1600" dirty="0">
                <a:solidFill>
                  <a:srgbClr val="663300"/>
                </a:solidFill>
              </a:rPr>
              <a:t>Pilot uses local CSV storage and Power BI for visualization</a:t>
            </a:r>
          </a:p>
          <a:p>
            <a:r>
              <a:rPr lang="en-GB" sz="1600" dirty="0">
                <a:solidFill>
                  <a:srgbClr val="663300"/>
                </a:solidFill>
              </a:rPr>
              <a:t>Scalable to cloud-based infrastructure for multi-branch integration</a:t>
            </a:r>
          </a:p>
          <a:p>
            <a:r>
              <a:rPr lang="en-GB" sz="1600" dirty="0">
                <a:solidFill>
                  <a:srgbClr val="663300"/>
                </a:solidFill>
              </a:rPr>
              <a:t>ETL process built in Python (extract, transform, load)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204</Words>
  <Application>Microsoft Office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Café Analytics Pilot — Project Presentation </vt:lpstr>
      <vt:lpstr>📊 Dashboard Highlights</vt:lpstr>
      <vt:lpstr>🏪 Branch Performance</vt:lpstr>
      <vt:lpstr>Recommendations</vt:lpstr>
      <vt:lpstr>Technical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Alexandra Sotelo</cp:lastModifiedBy>
  <cp:revision>2</cp:revision>
  <dcterms:created xsi:type="dcterms:W3CDTF">2013-01-27T09:14:16Z</dcterms:created>
  <dcterms:modified xsi:type="dcterms:W3CDTF">2025-11-10T20:48:36Z</dcterms:modified>
  <cp:category/>
</cp:coreProperties>
</file>